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8"/>
  </p:normalViewPr>
  <p:slideViewPr>
    <p:cSldViewPr snapToGrid="0" snapToObjects="1">
      <p:cViewPr varScale="1">
        <p:scale>
          <a:sx n="150" d="100"/>
          <a:sy n="15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A9163-BD4F-9D47-8E6A-91E127E5CEFA}" type="datetimeFigureOut">
              <a:rPr lang="en-NP" smtClean="0"/>
              <a:t>18/08/2026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19F1D-0264-3A43-8181-85C3D70A3E9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5751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19F1D-0264-3A43-8181-85C3D70A3E94}" type="slidenum">
              <a:rPr lang="en-NP" smtClean="0"/>
              <a:t>1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00757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91472" y="713232"/>
            <a:ext cx="585216" cy="585216"/>
          </a:xfrm>
          <a:prstGeom prst="ellipse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1463040"/>
            <a:ext cx="365760" cy="365760"/>
          </a:xfrm>
          <a:prstGeom prst="ellipse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10928" y="2167128"/>
            <a:ext cx="512064" cy="512064"/>
          </a:xfrm>
          <a:prstGeom prst="ellipse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35056" y="2505456"/>
            <a:ext cx="292608" cy="292608"/>
          </a:xfrm>
          <a:prstGeom prst="ellipse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15984" y="1700784"/>
            <a:ext cx="256032" cy="256032"/>
          </a:xfrm>
          <a:prstGeom prst="ellipse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91672" y="987552"/>
            <a:ext cx="219456" cy="219456"/>
          </a:xfrm>
          <a:prstGeom prst="ellipse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84080" y="1005840"/>
            <a:ext cx="731520" cy="64008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66960" y="1645920"/>
            <a:ext cx="548640" cy="77724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66960" y="2423160"/>
            <a:ext cx="914400" cy="22860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144000" y="1005840"/>
            <a:ext cx="640080" cy="82296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515600" y="1097280"/>
            <a:ext cx="685800" cy="54864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9144000" y="1828800"/>
            <a:ext cx="822960" cy="594360"/>
          </a:xfrm>
          <a:prstGeom prst="line">
            <a:avLst/>
          </a:prstGeom>
          <a:ln w="15240">
            <a:solidFill>
              <a:srgbClr val="50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05156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CFDE"/>
                </a:solidFill>
                <a:latin typeface="Aptos"/>
              </a:rPr>
              <a:t>NEUROVISION‑AI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91640"/>
            <a:ext cx="8229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AI‑Powered Brain Tumor
Classification from MRI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0CFE1"/>
                </a:solidFill>
                <a:latin typeface="Aptos"/>
              </a:rPr>
              <a:t>Transfer Learning  •  EfficientNetB0  •  Grad‑CAM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5B8CF"/>
                </a:solidFill>
                <a:latin typeface="Aptos"/>
              </a:rPr>
              <a:t>A deep‑learning pipeline for 4‑class brain MRI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83480"/>
            <a:ext cx="1965960" cy="105156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5111496"/>
            <a:ext cx="17465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7,200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605272"/>
            <a:ext cx="1746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MRI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983480"/>
            <a:ext cx="1965960" cy="105156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98648" y="5111496"/>
            <a:ext cx="17465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5605272"/>
            <a:ext cx="1746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4983480"/>
            <a:ext cx="1965960" cy="105156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5111496"/>
            <a:ext cx="17465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95.31%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5605272"/>
            <a:ext cx="1746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test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complete story: input → model → evidence →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74320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73351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35915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Classify brain MRI images into Glioma, Meningioma, No Tumor and Pituitary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08760"/>
            <a:ext cx="274320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508760"/>
            <a:ext cx="64008" cy="1874519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2" y="1673351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2039112"/>
            <a:ext cx="235915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Transfer learning with ImageNet‑pretrained EfficientNetB0, image augmentation and fine‑tuning.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508760"/>
            <a:ext cx="233172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1508760"/>
            <a:ext cx="64008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1673351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039112"/>
            <a:ext cx="194767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95.31% test accuracy on 1,600 evaluated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33172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64008" cy="1874519"/>
          </a:xfrm>
          <a:prstGeom prst="rect">
            <a:avLst/>
          </a:prstGeom>
          <a:solidFill>
            <a:srgbClr val="EA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1673351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XAI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039112"/>
            <a:ext cx="194767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Grad‑CAM highlights regions contributing to the predicted class.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dirty="0"/>
              <a:t>• End‑to‑end pipeline rather than only a trained model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dirty="0"/>
              <a:t>• Quantitative evaluation: accuracy, precision, recall, F1 and confusion matrix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dirty="0"/>
              <a:t>• Visual evidence: predictions + Grad‑CAM explanation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dirty="0"/>
              <a:t>• Model checkpoint and final .</a:t>
            </a:r>
            <a:r>
              <a:rPr dirty="0" err="1"/>
              <a:t>keras</a:t>
            </a:r>
            <a:r>
              <a:rPr dirty="0"/>
              <a:t> model are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E293B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Aptos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Brain MRI classification is a visual recognition task where subtle image patterns can separate tumor categories. The project explores whether a CNN can learn these patterns automatically and consistently.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Aptos"/>
              </a:rPr>
              <a:t>Project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9202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C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029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95728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Build a model that classifies MRI images into four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9202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C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7" y="2029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395728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Use transfer learning + augmentation to reach strong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42900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3538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C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53872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04487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Measure performance with multiple metrics and a confusion matrix.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42900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3538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C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53872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904487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Use Grad‑CAM to visualize where the network focuses.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Dataset &amp; Input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Balanced four‑class evaluation with 224×224 model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057400" cy="123444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36776"/>
            <a:ext cx="18379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5,600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183794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training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08760"/>
            <a:ext cx="2057400" cy="123444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636776"/>
            <a:ext cx="18379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1,600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130552"/>
            <a:ext cx="183794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test / validation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508760"/>
            <a:ext cx="2057400" cy="123444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636776"/>
            <a:ext cx="18379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224×224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130552"/>
            <a:ext cx="183794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input 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508760"/>
            <a:ext cx="2057400" cy="123444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7" y="1636776"/>
            <a:ext cx="18379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7" y="2130552"/>
            <a:ext cx="183794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batch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Four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2331720" cy="914400"/>
          </a:xfrm>
          <a:prstGeom prst="roundRect">
            <a:avLst/>
          </a:prstGeom>
          <a:solidFill>
            <a:srgbClr val="162846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Glioma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566160"/>
            <a:ext cx="2331720" cy="914400"/>
          </a:xfrm>
          <a:prstGeom prst="roundRect">
            <a:avLst/>
          </a:prstGeom>
          <a:solidFill>
            <a:srgbClr val="162846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3767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Meningioma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566160"/>
            <a:ext cx="2331720" cy="914400"/>
          </a:xfrm>
          <a:prstGeom prst="roundRect">
            <a:avLst/>
          </a:prstGeom>
          <a:solidFill>
            <a:srgbClr val="162846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3767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No Tumor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566160"/>
            <a:ext cx="2331720" cy="914400"/>
          </a:xfrm>
          <a:prstGeom prst="roundRect">
            <a:avLst/>
          </a:prstGeom>
          <a:solidFill>
            <a:srgbClr val="162846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15400" y="3767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Pituitary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Training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Rotation ±15°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Width / height shift 10%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Zoom 10%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Horizontal flip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Nearest 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Test preprocessing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285232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EfficientNet preprocessing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Resize to 224×224</a:t>
            </a:r>
          </a:p>
          <a:p>
            <a:pPr>
              <a:spcAft>
                <a:spcPts val="500"/>
              </a:spcAft>
              <a:defRPr sz="1100">
                <a:solidFill>
                  <a:srgbClr val="BECCDE"/>
                </a:solidFill>
                <a:latin typeface="Aptos"/>
              </a:defRPr>
            </a:pPr>
            <a:r>
              <a:t>• No augmentation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End‑to‑End 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325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7C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MRI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Raw brain MRI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47088" y="2898648"/>
            <a:ext cx="246888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2148840"/>
            <a:ext cx="1325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1992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7C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Resize + normalize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898648"/>
            <a:ext cx="246888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58184" y="2148840"/>
            <a:ext cx="1325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9624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7C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AUGMENT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1336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Rotation / shift / zoom / flip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02352" y="2898648"/>
            <a:ext cx="246888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85816" y="2148840"/>
            <a:ext cx="1325880" cy="1508760"/>
          </a:xfrm>
          <a:prstGeom prst="roundRect">
            <a:avLst/>
          </a:prstGeom>
          <a:solidFill>
            <a:srgbClr val="0F1F3A"/>
          </a:solidFill>
          <a:ln>
            <a:solidFill>
              <a:srgbClr val="23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BCFD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EFFICIENTNETB0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4C3D7"/>
                </a:solidFill>
                <a:latin typeface="Aptos"/>
              </a:rPr>
              <a:t>Feature extraction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9983" y="2898648"/>
            <a:ext cx="246889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3448" y="2148840"/>
            <a:ext cx="1325880" cy="1508760"/>
          </a:xfrm>
          <a:prstGeom prst="roundRect">
            <a:avLst/>
          </a:prstGeom>
          <a:solidFill>
            <a:srgbClr val="0F1F3A"/>
          </a:solidFill>
          <a:ln>
            <a:solidFill>
              <a:srgbClr val="23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04888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BCFDE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4C3D7"/>
                </a:solidFill>
                <a:latin typeface="Aptos"/>
              </a:rPr>
              <a:t>256‑unit head + softmax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57616" y="2898648"/>
            <a:ext cx="246888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2148840"/>
            <a:ext cx="1325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32520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7C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Class + confidence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85248" y="2898648"/>
            <a:ext cx="246888" cy="0"/>
          </a:xfrm>
          <a:prstGeom prst="line">
            <a:avLst/>
          </a:prstGeom>
          <a:ln w="19050">
            <a:solidFill>
              <a:srgbClr val="23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268712" y="2148840"/>
            <a:ext cx="13258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60152" y="2331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7CFF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4" y="2670048"/>
            <a:ext cx="1179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GRAD‑CAM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1864" y="3090672"/>
            <a:ext cx="1179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Visual explanation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EfficientNetB0 backbone + lightweight classification 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3172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23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395728"/>
            <a:ext cx="2185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EfficientNetB0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999232"/>
            <a:ext cx="2185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ImageNet pretrained
224×224×3 → 7×7×1280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71215" y="2898648"/>
            <a:ext cx="182881" cy="0"/>
          </a:xfrm>
          <a:prstGeom prst="line">
            <a:avLst/>
          </a:prstGeom>
          <a:ln w="1905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27248" y="2103120"/>
            <a:ext cx="169164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2B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2395728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Global Average
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99232"/>
            <a:ext cx="15453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7×7×1280 → 1280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55464" y="2898648"/>
            <a:ext cx="182880" cy="0"/>
          </a:xfrm>
          <a:prstGeom prst="line">
            <a:avLst/>
          </a:prstGeom>
          <a:ln w="1905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1496" y="2103120"/>
            <a:ext cx="141732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23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2395728"/>
            <a:ext cx="12710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Dense 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999232"/>
            <a:ext cx="12710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ReLU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65392" y="2898648"/>
            <a:ext cx="182880" cy="0"/>
          </a:xfrm>
          <a:prstGeom prst="line">
            <a:avLst/>
          </a:prstGeom>
          <a:ln w="1905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21424" y="2103120"/>
            <a:ext cx="141732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2B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2395728"/>
            <a:ext cx="12710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BatchNorm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999232"/>
            <a:ext cx="12710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Stabilize activations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75319" y="2898648"/>
            <a:ext cx="182881" cy="0"/>
          </a:xfrm>
          <a:prstGeom prst="line">
            <a:avLst/>
          </a:prstGeom>
          <a:ln w="1905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31352" y="2103120"/>
            <a:ext cx="141732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EA8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04504" y="2395728"/>
            <a:ext cx="12710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Dropout 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999232"/>
            <a:ext cx="12710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Regularization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85248" y="2898648"/>
            <a:ext cx="182880" cy="0"/>
          </a:xfrm>
          <a:prstGeom prst="line">
            <a:avLst/>
          </a:prstGeom>
          <a:ln w="1905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2103120"/>
            <a:ext cx="1600200" cy="1600200"/>
          </a:xfrm>
          <a:prstGeom prst="roundRect">
            <a:avLst/>
          </a:prstGeom>
          <a:solidFill>
            <a:srgbClr val="12244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14432" y="2395728"/>
            <a:ext cx="14538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Softmax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2999232"/>
            <a:ext cx="14538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BECCDE"/>
                </a:solidFill>
                <a:latin typeface="Aptos"/>
              </a:rPr>
              <a:t>Final class probabilities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43400"/>
            <a:ext cx="2423160" cy="11430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471416"/>
            <a:ext cx="2203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4.38M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965192"/>
            <a:ext cx="22037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total parameters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343400"/>
            <a:ext cx="2423160" cy="11430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47288" y="4471416"/>
            <a:ext cx="2203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329K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4965192"/>
            <a:ext cx="22037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trainable initially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343400"/>
            <a:ext cx="2423160" cy="11430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9048" y="4471416"/>
            <a:ext cx="2203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16.71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965192"/>
            <a:ext cx="22037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model size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4343400"/>
            <a:ext cx="2423160" cy="11430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50807" y="4471416"/>
            <a:ext cx="2203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7" y="4965192"/>
            <a:ext cx="22037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softmax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Two‑stage learning: learn the head first, then fine‑tune deeper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063240" cy="205740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37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029968"/>
            <a:ext cx="384048" cy="384048"/>
          </a:xfrm>
          <a:prstGeom prst="ellipse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198424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STAGE 1  •  30 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68880"/>
            <a:ext cx="274320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9C8DC"/>
                </a:solidFill>
                <a:latin typeface="Aptos"/>
              </a:rPr>
              <a:t>EfficientNetB0 frozen
Adam 1e‑3
Categorical cross‑entropy
Augmented training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852928"/>
            <a:ext cx="640081" cy="0"/>
          </a:xfrm>
          <a:prstGeom prst="line">
            <a:avLst/>
          </a:prstGeom>
          <a:ln w="2794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828800"/>
            <a:ext cx="3063240" cy="205740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37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0" y="2029968"/>
            <a:ext cx="384048" cy="384048"/>
          </a:xfrm>
          <a:prstGeom prst="ellipse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6672" y="198424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STAGE 2  •  10 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468880"/>
            <a:ext cx="274320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9C8DC"/>
                </a:solidFill>
                <a:latin typeface="Aptos"/>
              </a:rPr>
              <a:t>Unfreeze from layer 100
Adam 1e‑4
Fine‑tune upper layers
Keep callbacks active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0" y="2852928"/>
            <a:ext cx="640080" cy="0"/>
          </a:xfrm>
          <a:prstGeom prst="line">
            <a:avLst/>
          </a:prstGeom>
          <a:ln w="27940">
            <a:solidFill>
              <a:srgbClr val="2B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1828800"/>
            <a:ext cx="2606040" cy="205740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37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0" y="2029968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45752" y="198424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BEST 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468880"/>
            <a:ext cx="228600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9C8DC"/>
                </a:solidFill>
                <a:latin typeface="Aptos"/>
              </a:rPr>
              <a:t>Monitor val_accuracy
Save best_model.keras
Restore best 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34840"/>
            <a:ext cx="31546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434840"/>
            <a:ext cx="64008" cy="1143000"/>
          </a:xfrm>
          <a:prstGeom prst="rect">
            <a:avLst/>
          </a:prstGeom>
          <a:solidFill>
            <a:srgbClr val="EA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4599431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EARLY STOPPING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965192"/>
            <a:ext cx="2770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Monitor validation loss; restore best weights.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434840"/>
            <a:ext cx="31546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4434840"/>
            <a:ext cx="64008" cy="1143000"/>
          </a:xfrm>
          <a:prstGeom prst="rect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4599431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REDUCE 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965192"/>
            <a:ext cx="2770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Factor 0.2 when validation loss plateaus.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434840"/>
            <a:ext cx="31546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0" y="443484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4599431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CHECKPOINT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4965192"/>
            <a:ext cx="2770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Save only the best validation accuracy.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Fine‑tuning pushed validation accuracy above 95%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543800" cy="26926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645920"/>
            <a:ext cx="27432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30767" y="1773936"/>
            <a:ext cx="2523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98.79%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7" y="2267712"/>
            <a:ext cx="2523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peak training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063240"/>
            <a:ext cx="27432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7" y="3191256"/>
            <a:ext cx="2523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95.31%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3685032"/>
            <a:ext cx="2523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peak validation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480560"/>
            <a:ext cx="27432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7" y="4608576"/>
            <a:ext cx="2523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Aptos"/>
              </a:rPr>
              <a:t>0.2877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5102352"/>
            <a:ext cx="2523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best validation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6480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Evidence from uploaded notebook outputs / saved project figures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Evaluation on 1,600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377440" cy="13716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36776"/>
            <a:ext cx="21579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95.31%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377440" cy="13716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636776"/>
            <a:ext cx="21579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7CFF"/>
                </a:solidFill>
                <a:latin typeface="Aptos"/>
              </a:rPr>
              <a:t>95.55%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weighted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508760"/>
            <a:ext cx="2377440" cy="13716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16168" y="1636776"/>
            <a:ext cx="21579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CFDE"/>
                </a:solidFill>
                <a:latin typeface="Aptos"/>
              </a:rPr>
              <a:t>95.31%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weighted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508760"/>
            <a:ext cx="2377440" cy="1371600"/>
          </a:xfrm>
          <a:prstGeom prst="roundRect">
            <a:avLst/>
          </a:prstGeom>
          <a:solidFill>
            <a:srgbClr val="0F1F3A"/>
          </a:solidFill>
          <a:ln>
            <a:solidFill>
              <a:srgbClr val="2C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636776"/>
            <a:ext cx="21579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Aptos"/>
              </a:rPr>
              <a:t>95.23%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weighted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Per‑class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B9D7"/>
                </a:solidFill>
                <a:latin typeface="Aptos"/>
              </a:rPr>
              <a:t>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40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B9D7"/>
                </a:solidFill>
                <a:latin typeface="Aptos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840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B9D7"/>
                </a:solidFill>
                <a:latin typeface="Aptos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40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B9D7"/>
                </a:solidFill>
                <a:latin typeface="Aptos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Glioma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2976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2976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976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3659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Meningioma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3659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73659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3659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75504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No Tumor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7550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17550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BCFDE"/>
                </a:solidFill>
                <a:latin typeface="Aptos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17550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14416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Pituitary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61441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61441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61441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CE6F2"/>
                </a:solidFill>
                <a:latin typeface="Aptos"/>
              </a:rPr>
              <a:t>99%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17282" y="3465576"/>
            <a:ext cx="3063240" cy="214884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395460" y="3615587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BEST 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013351"/>
            <a:ext cx="267919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BECCDE"/>
                </a:solidFill>
                <a:latin typeface="Aptos"/>
              </a:rPr>
              <a:t>Pituitary
F1 = 0.99
Recall = 0.99
Precision = 0.98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Where the 1,600 predictions succeeded—and where they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492240" cy="4869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508760"/>
            <a:ext cx="3657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1E293B"/>
                </a:solidFill>
                <a:latin typeface="Aptos"/>
              </a:rPr>
              <a:t>M</a:t>
            </a:r>
            <a:r>
              <a:rPr sz="1800" b="1" dirty="0">
                <a:solidFill>
                  <a:srgbClr val="1E293B"/>
                </a:solidFill>
                <a:latin typeface="Aptos"/>
              </a:rPr>
              <a:t>atrix </a:t>
            </a:r>
            <a:endParaRPr lang="en-US" sz="18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0" y="2057400"/>
            <a:ext cx="4160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• 338 / 400 glioma images were correctly classified.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• 389 / 400 meningioma images were correct.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• All 400 No Tumor images were correct.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• 398 / 400 pituitary images were correct.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• The largest error pattern is glioma → meningioma / No Tumor.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526280"/>
            <a:ext cx="3977639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4526280"/>
            <a:ext cx="64008" cy="822960"/>
          </a:xfrm>
          <a:prstGeom prst="rect">
            <a:avLst/>
          </a:prstGeom>
          <a:solidFill>
            <a:srgbClr val="EA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9228" y="4690872"/>
            <a:ext cx="359359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Glioma recall = 84% — the weakest per‑class recall in the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6480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Evidence from uploaded notebook outputs / saved project figures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Sample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Visual examples from the notebook: correct and incorrect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mpl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8001000" cy="60593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874519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The model outputs a class and a confidence score.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Several examples are high‑confidence correct predictions.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Some high‑confidence errors show why confidence ≠ certainty.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This motivates explainability and stronger external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5047486"/>
            <a:ext cx="2971800" cy="62179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31352" y="5056632"/>
            <a:ext cx="82296" cy="612648"/>
          </a:xfrm>
          <a:prstGeom prst="rect">
            <a:avLst/>
          </a:prstGeom>
          <a:solidFill>
            <a:srgbClr val="EA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5056632"/>
            <a:ext cx="25877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 confident wrong prediction is more important to analyze than a confident correct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6480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Evidence from uploaded notebook outputs / saved project figures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Explainability with Grad‑CAM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Turning a prediction into a visual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gradcam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835640" cy="3979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617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Example: predicted Glioma with 86.40%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5156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250" b="0" dirty="0">
              <a:solidFill>
                <a:srgbClr val="BECCDE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5833872"/>
            <a:ext cx="3154680" cy="530352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5833872"/>
            <a:ext cx="64008" cy="53035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599846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6364224"/>
            <a:ext cx="277063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BECCDE"/>
                </a:solidFill>
                <a:latin typeface="Aptos"/>
              </a:rPr>
              <a:t>More transparent model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833872"/>
            <a:ext cx="3154680" cy="530352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5833872"/>
            <a:ext cx="64008" cy="530352"/>
          </a:xfrm>
          <a:prstGeom prst="rect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599846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TARGET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6364224"/>
            <a:ext cx="277063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ECCDE"/>
                </a:solidFill>
                <a:latin typeface="Aptos"/>
              </a:rPr>
              <a:t>EfficientNetB0: top_activation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5833872"/>
            <a:ext cx="3154680" cy="530352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5833872"/>
            <a:ext cx="6400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54112" y="599846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6364224"/>
            <a:ext cx="277063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ECCDE"/>
                </a:solidFill>
                <a:latin typeface="Aptos"/>
              </a:rPr>
              <a:t>Original + heatmap +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Error Analysis &amp; What We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Aptos"/>
              </a:rPr>
              <a:t>The strongest result is not the 95.31% number—it is understanding the remaining 4.69%.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383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64008" cy="2331720"/>
          </a:xfrm>
          <a:prstGeom prst="rect">
            <a:avLst/>
          </a:prstGeom>
          <a:solidFill>
            <a:srgbClr val="EA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1  •  GLIOMA IS THE HARD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2999232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Recall is 84%, compared with 97–100% for the other classes. The confusion matrix shows glioma being predicted as meningioma and No Tumor.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98548"/>
            <a:ext cx="3383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64008" cy="233172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5562" y="2173147"/>
            <a:ext cx="307543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E293B"/>
                </a:solidFill>
                <a:latin typeface="Aptos"/>
              </a:rPr>
              <a:t>2  •  HIGH CONFIDENCE CAN</a:t>
            </a:r>
            <a:r>
              <a:rPr lang="en-US" sz="1500" b="1" dirty="0">
                <a:solidFill>
                  <a:srgbClr val="1E293B"/>
                </a:solidFill>
                <a:latin typeface="Aptos"/>
              </a:rPr>
              <a:t> STILL FALL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2999232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The sample predictions include incorrect glioma predictions with high confidence. This is why probability alone should not be treated as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148840"/>
            <a:ext cx="3383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2148840"/>
            <a:ext cx="64008" cy="2331720"/>
          </a:xfrm>
          <a:prstGeom prst="rect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31343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3  •  GENERALIZATION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2999232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The training curve is stronger than validation. The next experiment should use a genuinely held‑out test set and ideally external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Limitations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What I would change before calling this deployment‑ready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777240" cy="50292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8025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98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The notebook passes test_generator as validation_data during training.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Therefore the 1,600‑image set is not a completely untouched final test set.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Dataset diversity and external generalization are not established.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Grad‑CAM is an explanation aid, not proof of clinical correctness.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CFDE"/>
                </a:solidFill>
                <a:latin typeface="Aptos"/>
              </a:rPr>
              <a:t>NEXT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Split into train / validation / untouched test sets.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Evaluate on an independent external MRI dataset.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Tune augmentation and class‑specific error handling.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Compare EfficientNetB0 with stronger architectures.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Add calibration, ROC‑AUC and confidence analysis.</a:t>
            </a:r>
          </a:p>
          <a:p>
            <a:pPr>
              <a:spcAft>
                <a:spcPts val="500"/>
              </a:spcAft>
              <a:defRPr sz="1250">
                <a:solidFill>
                  <a:srgbClr val="CDD9E8"/>
                </a:solidFill>
                <a:latin typeface="Aptos"/>
              </a:defRPr>
            </a:pPr>
            <a:r>
              <a:t>• Package inference into a reproducible application/API.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CFDE"/>
                </a:solidFill>
                <a:latin typeface="Aptos"/>
              </a:rPr>
              <a:t>NEUROVISION‑AI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315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From MRI pixels to
measurable AI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9DE"/>
                </a:solidFill>
                <a:latin typeface="Aptos"/>
              </a:rPr>
              <a:t>EfficientNetB0  •  4 classes  •  7,200 images  •  95.31% evaluated accuracy  •  Grad‑CAM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3337560" cy="141732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94760"/>
            <a:ext cx="64008" cy="1417320"/>
          </a:xfrm>
          <a:prstGeom prst="rect">
            <a:avLst/>
          </a:prstGeom>
          <a:solidFill>
            <a:srgbClr val="23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95935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25112"/>
            <a:ext cx="2953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ECCDE"/>
                </a:solidFill>
                <a:latin typeface="Aptos"/>
              </a:rPr>
              <a:t>Transfer learning + augmentation + fine‑tuning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794760"/>
            <a:ext cx="3337560" cy="141732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3794760"/>
            <a:ext cx="64008" cy="1417320"/>
          </a:xfrm>
          <a:prstGeom prst="rect">
            <a:avLst/>
          </a:prstGeom>
          <a:solidFill>
            <a:srgbClr val="2B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395935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325112"/>
            <a:ext cx="2953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ECCDE"/>
                </a:solidFill>
                <a:latin typeface="Aptos"/>
              </a:rPr>
              <a:t>Metrics + confusion matrix + sample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94760"/>
            <a:ext cx="3337560" cy="141732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379476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395935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325112"/>
            <a:ext cx="2953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ECCDE"/>
                </a:solidFill>
                <a:latin typeface="Aptos"/>
              </a:rPr>
              <a:t>Grad‑CAM + honest limitations +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FC3"/>
                </a:solidFill>
                <a:latin typeface="Aptos"/>
              </a:rPr>
              <a:t>NeuroVision‑AI  •  Brain MRI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FC3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1257</Words>
  <Application>Microsoft Macintosh PowerPoint</Application>
  <PresentationFormat>Widescreen</PresentationFormat>
  <Paragraphs>254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Bishal Kumar Sah</cp:lastModifiedBy>
  <cp:revision>11</cp:revision>
  <dcterms:created xsi:type="dcterms:W3CDTF">2013-01-27T09:14:16Z</dcterms:created>
  <dcterms:modified xsi:type="dcterms:W3CDTF">2026-08-18T01:15:40Z</dcterms:modified>
  <cp:category/>
</cp:coreProperties>
</file>